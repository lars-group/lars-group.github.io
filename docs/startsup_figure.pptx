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15116" r:id="rId2"/>
    <p:sldId id="15117" r:id="rId3"/>
  </p:sldIdLst>
  <p:sldSz cx="9144000" cy="6858000" type="screen4x3"/>
  <p:notesSz cx="9929813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" id="{6257A824-4DCE-4934-AAE1-DC1227009B59}">
          <p14:sldIdLst>
            <p14:sldId id="15116"/>
            <p14:sldId id="1511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ifang" initials="m" lastIdx="2" clrIdx="0">
    <p:extLst>
      <p:ext uri="{19B8F6BF-5375-455C-9EA6-DF929625EA0E}">
        <p15:presenceInfo xmlns:p15="http://schemas.microsoft.com/office/powerpoint/2012/main" userId="meif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637B"/>
    <a:srgbClr val="DCEDF9"/>
    <a:srgbClr val="CFD6EB"/>
    <a:srgbClr val="E9E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51"/>
    <p:restoredTop sz="95423" autoAdjust="0"/>
  </p:normalViewPr>
  <p:slideViewPr>
    <p:cSldViewPr snapToGrid="0">
      <p:cViewPr varScale="1">
        <p:scale>
          <a:sx n="178" d="100"/>
          <a:sy n="178" d="100"/>
        </p:scale>
        <p:origin x="492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48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2919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4598" y="0"/>
            <a:ext cx="4302919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EA150398-E1AF-4D77-8F78-0CD8FEA1D927}" type="datetimeFigureOut">
              <a:rPr lang="zh-CN" altLang="en-US" smtClean="0"/>
              <a:pPr/>
              <a:t>2026/5/8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9113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982" y="3271382"/>
            <a:ext cx="794385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2" y="6456613"/>
            <a:ext cx="4302919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4598" y="6456613"/>
            <a:ext cx="4302919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B121A8ED-21DB-43BC-84B7-29D0D3B16468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7894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AA367-CA97-4E97-B084-89A42CD3C83A}" type="datetime1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ED0D-76F2-4870-9586-CB755F9C9B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61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699C-BC1A-48FD-99CC-6F7930D10C81}" type="datetime1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ED0D-76F2-4870-9586-CB755F9C9B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257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AD122-DD4F-4BD4-AF8B-4AE5880186B9}" type="datetime1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ED0D-76F2-4870-9586-CB755F9C9B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986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E1EC2-FACA-4535-8493-7ED5444D1A5B}" type="datetime1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ED0D-76F2-4870-9586-CB755F9C9B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044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17ABC-CE7C-436E-821F-3E99B003B208}" type="datetime1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ED0D-76F2-4870-9586-CB755F9C9B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858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6BFCE-5C22-4CA9-9BE3-BB16111B0556}" type="datetime1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ED0D-76F2-4870-9586-CB755F9C9B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560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9B35-0095-4218-80B9-5E37C46FD9EC}" type="datetime1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ED0D-76F2-4870-9586-CB755F9C9B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943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B77B1-B8F7-4865-9062-61F61CC1BA93}" type="datetime1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ED0D-76F2-4870-9586-CB755F9C9B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751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43856-78E6-49D1-BA7C-A29373CA4EA7}" type="datetime1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ED0D-76F2-4870-9586-CB755F9C9B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22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F14D8-E9FB-484E-941B-BA88BCFE5806}" type="datetime1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ED0D-76F2-4870-9586-CB755F9C9B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962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A88B3-F6DA-4E95-A32A-994ADFFB3921}" type="datetime1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ED0D-76F2-4870-9586-CB755F9C9B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329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Microsoft YaHei" panose="020B0503020204020204" pitchFamily="34" charset="-122"/>
              </a:defRPr>
            </a:lvl1pPr>
          </a:lstStyle>
          <a:p>
            <a:fld id="{5E6F3B06-10B6-48F4-BFC0-6F1349DF7648}" type="datetime1">
              <a:rPr lang="zh-CN" altLang="en-US" smtClean="0"/>
              <a:pPr/>
              <a:t>2026/5/8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Microsoft YaHe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Microsoft YaHei" panose="020B0503020204020204" pitchFamily="34" charset="-122"/>
              </a:defRPr>
            </a:lvl1pPr>
          </a:lstStyle>
          <a:p>
            <a:fld id="{C6A1ED0D-76F2-4870-9586-CB755F9C9B2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1199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0CD564-6BC5-5697-21BC-57197B7D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教学育人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EF8C88-D79F-7BE1-C782-77DE97635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ED0D-76F2-4870-9586-CB755F9C9B21}" type="slidenum">
              <a:rPr lang="zh-CN" altLang="en-US" smtClean="0"/>
              <a:t>1</a:t>
            </a:fld>
            <a:endParaRPr lang="zh-CN" altLang="en-US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87B0E8CA-E73F-6402-3440-21A8812764E2}"/>
              </a:ext>
            </a:extLst>
          </p:cNvPr>
          <p:cNvCxnSpPr>
            <a:cxnSpLocks/>
          </p:cNvCxnSpPr>
          <p:nvPr/>
        </p:nvCxnSpPr>
        <p:spPr>
          <a:xfrm>
            <a:off x="1822450" y="3028950"/>
            <a:ext cx="554355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C569F488-8B0C-522D-BBF3-154AD8CB82F7}"/>
              </a:ext>
            </a:extLst>
          </p:cNvPr>
          <p:cNvSpPr txBox="1"/>
          <p:nvPr/>
        </p:nvSpPr>
        <p:spPr>
          <a:xfrm>
            <a:off x="796925" y="2705784"/>
            <a:ext cx="71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/>
              <a:t>第一课堂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31E877-76B1-C0E5-14C0-BFA283BBEF48}"/>
              </a:ext>
            </a:extLst>
          </p:cNvPr>
          <p:cNvSpPr txBox="1"/>
          <p:nvPr/>
        </p:nvSpPr>
        <p:spPr>
          <a:xfrm>
            <a:off x="796925" y="4578576"/>
            <a:ext cx="71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/>
              <a:t>第二课堂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B8C9A23-C639-8914-5B4F-2251FEAB31C3}"/>
              </a:ext>
            </a:extLst>
          </p:cNvPr>
          <p:cNvSpPr txBox="1"/>
          <p:nvPr/>
        </p:nvSpPr>
        <p:spPr>
          <a:xfrm>
            <a:off x="7693025" y="5268730"/>
            <a:ext cx="71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/>
              <a:t>科学研究</a:t>
            </a: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B6E76A04-5C45-8FC9-DFE1-A6BCDCED6DD1}"/>
              </a:ext>
            </a:extLst>
          </p:cNvPr>
          <p:cNvCxnSpPr>
            <a:cxnSpLocks/>
          </p:cNvCxnSpPr>
          <p:nvPr/>
        </p:nvCxnSpPr>
        <p:spPr>
          <a:xfrm>
            <a:off x="2746375" y="2758950"/>
            <a:ext cx="0" cy="2700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E62D1D94-112C-3794-4B89-E72504E0840D}"/>
              </a:ext>
            </a:extLst>
          </p:cNvPr>
          <p:cNvSpPr txBox="1"/>
          <p:nvPr/>
        </p:nvSpPr>
        <p:spPr>
          <a:xfrm>
            <a:off x="2076961" y="2069952"/>
            <a:ext cx="1338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数据与算法</a:t>
            </a:r>
            <a:endParaRPr kumimoji="1" lang="en-US" altLang="zh-CN" dirty="0"/>
          </a:p>
          <a:p>
            <a:pPr algn="ctr"/>
            <a:r>
              <a:rPr kumimoji="1" lang="zh-CN" altLang="en-US" sz="1400" dirty="0"/>
              <a:t>（算法基础）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31547C5-E068-CB41-1C1B-D1658E4E9827}"/>
              </a:ext>
            </a:extLst>
          </p:cNvPr>
          <p:cNvSpPr txBox="1"/>
          <p:nvPr/>
        </p:nvSpPr>
        <p:spPr>
          <a:xfrm>
            <a:off x="3889143" y="2064912"/>
            <a:ext cx="12618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机器学习</a:t>
            </a:r>
            <a:endParaRPr kumimoji="1" lang="en-US" altLang="zh-CN" dirty="0"/>
          </a:p>
          <a:p>
            <a:pPr algn="ctr"/>
            <a:r>
              <a:rPr kumimoji="1" lang="zh-CN" altLang="en-US" sz="1400" dirty="0"/>
              <a:t>（领域入门）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CA27425-14B0-2B6F-B1D9-018EDB4D35D0}"/>
              </a:ext>
            </a:extLst>
          </p:cNvPr>
          <p:cNvSpPr txBox="1"/>
          <p:nvPr/>
        </p:nvSpPr>
        <p:spPr>
          <a:xfrm>
            <a:off x="5507849" y="2064911"/>
            <a:ext cx="15696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高等机器学习</a:t>
            </a:r>
            <a:endParaRPr kumimoji="1" lang="en-US" altLang="zh-CN" dirty="0"/>
          </a:p>
          <a:p>
            <a:pPr algn="ctr"/>
            <a:r>
              <a:rPr kumimoji="1" lang="zh-CN" altLang="en-US" sz="1400" dirty="0"/>
              <a:t>（学科前沿）</a:t>
            </a: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C7654B8A-EA79-3CDF-2F2B-FF46389A8436}"/>
              </a:ext>
            </a:extLst>
          </p:cNvPr>
          <p:cNvCxnSpPr>
            <a:cxnSpLocks/>
          </p:cNvCxnSpPr>
          <p:nvPr/>
        </p:nvCxnSpPr>
        <p:spPr>
          <a:xfrm>
            <a:off x="4516909" y="2758950"/>
            <a:ext cx="0" cy="2700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C0207125-11DD-640C-4618-65E791B3B661}"/>
              </a:ext>
            </a:extLst>
          </p:cNvPr>
          <p:cNvCxnSpPr>
            <a:cxnSpLocks/>
          </p:cNvCxnSpPr>
          <p:nvPr/>
        </p:nvCxnSpPr>
        <p:spPr>
          <a:xfrm>
            <a:off x="6292679" y="2758950"/>
            <a:ext cx="0" cy="2700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C04EB4EC-E87F-C2C8-B1D9-2EB7E7ABBA0E}"/>
              </a:ext>
            </a:extLst>
          </p:cNvPr>
          <p:cNvSpPr txBox="1"/>
          <p:nvPr/>
        </p:nvSpPr>
        <p:spPr>
          <a:xfrm>
            <a:off x="7693025" y="2675007"/>
            <a:ext cx="71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/>
              <a:t>基础夯实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8A113D0-5266-B41C-C3A7-38AA636C591B}"/>
              </a:ext>
            </a:extLst>
          </p:cNvPr>
          <p:cNvSpPr txBox="1"/>
          <p:nvPr/>
        </p:nvSpPr>
        <p:spPr>
          <a:xfrm>
            <a:off x="7693025" y="3944056"/>
            <a:ext cx="71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/>
              <a:t>科创实践</a:t>
            </a: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3F32D069-9530-65C1-D936-E4D0DDE9266F}"/>
              </a:ext>
            </a:extLst>
          </p:cNvPr>
          <p:cNvCxnSpPr>
            <a:cxnSpLocks/>
          </p:cNvCxnSpPr>
          <p:nvPr/>
        </p:nvCxnSpPr>
        <p:spPr>
          <a:xfrm>
            <a:off x="1822450" y="4297999"/>
            <a:ext cx="554355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左大括号 22">
            <a:extLst>
              <a:ext uri="{FF2B5EF4-FFF2-40B4-BE49-F238E27FC236}">
                <a16:creationId xmlns:a16="http://schemas.microsoft.com/office/drawing/2014/main" id="{999ED707-B43F-3A80-EDDA-4456315643EC}"/>
              </a:ext>
            </a:extLst>
          </p:cNvPr>
          <p:cNvSpPr/>
          <p:nvPr/>
        </p:nvSpPr>
        <p:spPr>
          <a:xfrm>
            <a:off x="1528762" y="4297999"/>
            <a:ext cx="153988" cy="1269041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2456D227-F275-2EB7-07D1-6EC58E2E01E8}"/>
              </a:ext>
            </a:extLst>
          </p:cNvPr>
          <p:cNvCxnSpPr>
            <a:cxnSpLocks/>
          </p:cNvCxnSpPr>
          <p:nvPr/>
        </p:nvCxnSpPr>
        <p:spPr>
          <a:xfrm>
            <a:off x="3460750" y="5567047"/>
            <a:ext cx="390525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87FFC66C-0D00-EB09-B5EA-1BCDF8C25A7B}"/>
              </a:ext>
            </a:extLst>
          </p:cNvPr>
          <p:cNvSpPr txBox="1"/>
          <p:nvPr/>
        </p:nvSpPr>
        <p:spPr>
          <a:xfrm>
            <a:off x="3889142" y="3085124"/>
            <a:ext cx="6292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600" dirty="0"/>
              <a:t>本科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68BBD89-24F6-C942-D260-91F65B89AAD8}"/>
              </a:ext>
            </a:extLst>
          </p:cNvPr>
          <p:cNvSpPr txBox="1"/>
          <p:nvPr/>
        </p:nvSpPr>
        <p:spPr>
          <a:xfrm>
            <a:off x="4510050" y="3086152"/>
            <a:ext cx="8607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600" dirty="0"/>
              <a:t>研究生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8135B2B-EE78-E720-3F41-1FB749368AEA}"/>
              </a:ext>
            </a:extLst>
          </p:cNvPr>
          <p:cNvSpPr txBox="1"/>
          <p:nvPr/>
        </p:nvSpPr>
        <p:spPr>
          <a:xfrm>
            <a:off x="2285286" y="4343092"/>
            <a:ext cx="5605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600" dirty="0"/>
              <a:t>SRT</a:t>
            </a:r>
            <a:endParaRPr kumimoji="1" lang="zh-CN" altLang="en-US" sz="16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85CDCAB-1CBB-0F47-A540-BED038B87703}"/>
              </a:ext>
            </a:extLst>
          </p:cNvPr>
          <p:cNvSpPr txBox="1"/>
          <p:nvPr/>
        </p:nvSpPr>
        <p:spPr>
          <a:xfrm>
            <a:off x="3146107" y="4343092"/>
            <a:ext cx="6292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dirty="0"/>
              <a:t>大创</a:t>
            </a:r>
            <a:endParaRPr lang="zh-CN" altLang="en-US" sz="16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52A8211-855D-41C2-EDC9-03186DC3A22C}"/>
              </a:ext>
            </a:extLst>
          </p:cNvPr>
          <p:cNvSpPr txBox="1"/>
          <p:nvPr/>
        </p:nvSpPr>
        <p:spPr>
          <a:xfrm>
            <a:off x="3881899" y="4343092"/>
            <a:ext cx="12563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dirty="0"/>
              <a:t>校内挑战杯</a:t>
            </a:r>
            <a:endParaRPr lang="zh-CN" altLang="en-US" sz="16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084140B-743C-DE59-1180-998D6BB3DE0A}"/>
              </a:ext>
            </a:extLst>
          </p:cNvPr>
          <p:cNvSpPr txBox="1"/>
          <p:nvPr/>
        </p:nvSpPr>
        <p:spPr>
          <a:xfrm>
            <a:off x="5465226" y="4341110"/>
            <a:ext cx="18433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dirty="0"/>
              <a:t>更高级别科创项目</a:t>
            </a:r>
            <a:endParaRPr lang="zh-CN" altLang="en-US" sz="1600" dirty="0"/>
          </a:p>
        </p:txBody>
      </p: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AEA7E9A5-8D2A-DE13-A25F-E3B1871F515B}"/>
              </a:ext>
            </a:extLst>
          </p:cNvPr>
          <p:cNvCxnSpPr>
            <a:cxnSpLocks/>
          </p:cNvCxnSpPr>
          <p:nvPr/>
        </p:nvCxnSpPr>
        <p:spPr>
          <a:xfrm>
            <a:off x="4516909" y="3085124"/>
            <a:ext cx="0" cy="1131276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DA5578C8-BBD1-D469-6D89-2FCD1391B308}"/>
              </a:ext>
            </a:extLst>
          </p:cNvPr>
          <p:cNvCxnSpPr>
            <a:cxnSpLocks/>
          </p:cNvCxnSpPr>
          <p:nvPr/>
        </p:nvCxnSpPr>
        <p:spPr>
          <a:xfrm>
            <a:off x="6292678" y="3085124"/>
            <a:ext cx="0" cy="1131276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左大括号 44">
            <a:extLst>
              <a:ext uri="{FF2B5EF4-FFF2-40B4-BE49-F238E27FC236}">
                <a16:creationId xmlns:a16="http://schemas.microsoft.com/office/drawing/2014/main" id="{4A848BF1-CC64-5506-9559-A7E78D3B66B7}"/>
              </a:ext>
            </a:extLst>
          </p:cNvPr>
          <p:cNvSpPr/>
          <p:nvPr/>
        </p:nvSpPr>
        <p:spPr>
          <a:xfrm rot="16200000">
            <a:off x="3406914" y="3892913"/>
            <a:ext cx="244159" cy="1962112"/>
          </a:xfrm>
          <a:prstGeom prst="leftBrac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012FA322-8E3F-C75D-FDF9-9A5C6F09AD36}"/>
              </a:ext>
            </a:extLst>
          </p:cNvPr>
          <p:cNvCxnSpPr>
            <a:cxnSpLocks/>
          </p:cNvCxnSpPr>
          <p:nvPr/>
        </p:nvCxnSpPr>
        <p:spPr>
          <a:xfrm>
            <a:off x="3522643" y="5040924"/>
            <a:ext cx="0" cy="486865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642CEA0B-45A8-63F7-BCDF-279DD1B5EC42}"/>
              </a:ext>
            </a:extLst>
          </p:cNvPr>
          <p:cNvSpPr txBox="1"/>
          <p:nvPr/>
        </p:nvSpPr>
        <p:spPr>
          <a:xfrm>
            <a:off x="2714211" y="5622673"/>
            <a:ext cx="159467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600" dirty="0"/>
              <a:t>专项讨论</a:t>
            </a:r>
            <a:endParaRPr kumimoji="1" lang="en-US" altLang="zh-CN" sz="1600" dirty="0"/>
          </a:p>
          <a:p>
            <a:pPr algn="ctr"/>
            <a:r>
              <a:rPr kumimoji="1" lang="zh-CN" altLang="en-US" sz="1400" dirty="0"/>
              <a:t>（专项组组组会）</a:t>
            </a:r>
            <a:endParaRPr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F7E3BEBB-7B94-9BC2-E3AA-BD15F410E052}"/>
              </a:ext>
            </a:extLst>
          </p:cNvPr>
          <p:cNvSpPr txBox="1"/>
          <p:nvPr/>
        </p:nvSpPr>
        <p:spPr>
          <a:xfrm>
            <a:off x="4321788" y="5622673"/>
            <a:ext cx="167916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600" dirty="0"/>
              <a:t>系统性科研分享</a:t>
            </a:r>
            <a:r>
              <a:rPr kumimoji="1" lang="zh-CN" altLang="en-US" sz="1400" dirty="0"/>
              <a:t>（周五大组会）</a:t>
            </a:r>
            <a:endParaRPr lang="zh-CN" altLang="en-US" sz="14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8E146DD-9F50-AE15-D045-41E5FCBDD5B9}"/>
              </a:ext>
            </a:extLst>
          </p:cNvPr>
          <p:cNvSpPr txBox="1"/>
          <p:nvPr/>
        </p:nvSpPr>
        <p:spPr>
          <a:xfrm>
            <a:off x="6013858" y="5730395"/>
            <a:ext cx="11836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600" dirty="0"/>
              <a:t>论文投稿</a:t>
            </a:r>
            <a:endParaRPr lang="zh-CN" altLang="en-US" sz="1400" dirty="0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DB9BFB30-0378-AF7D-355E-EA9ED2E1214B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1152525" y="3413670"/>
            <a:ext cx="0" cy="116490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640C438F-716E-269D-A1D7-E79FD6D09D71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8048625" y="3382893"/>
            <a:ext cx="0" cy="5611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E97859CA-18A5-EC76-FEE5-07440934CE25}"/>
              </a:ext>
            </a:extLst>
          </p:cNvPr>
          <p:cNvCxnSpPr>
            <a:cxnSpLocks/>
            <a:stCxn id="21" idx="2"/>
            <a:endCxn id="9" idx="0"/>
          </p:cNvCxnSpPr>
          <p:nvPr/>
        </p:nvCxnSpPr>
        <p:spPr>
          <a:xfrm>
            <a:off x="8048625" y="4651942"/>
            <a:ext cx="0" cy="6167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827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83C62F-7878-BEE2-E3F2-8AB0935C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1ED0D-76F2-4870-9586-CB755F9C9B21}" type="slidenum">
              <a:rPr lang="zh-CN" altLang="en-US" smtClean="0"/>
              <a:t>2</a:t>
            </a:fld>
            <a:endParaRPr lang="zh-CN" altLang="en-US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D66D0F5B-7448-E176-4F2A-A576A2A6A037}"/>
              </a:ext>
            </a:extLst>
          </p:cNvPr>
          <p:cNvCxnSpPr/>
          <p:nvPr/>
        </p:nvCxnSpPr>
        <p:spPr>
          <a:xfrm flipV="1">
            <a:off x="431321" y="3429000"/>
            <a:ext cx="6642000" cy="0"/>
          </a:xfrm>
          <a:prstGeom prst="line">
            <a:avLst/>
          </a:prstGeom>
          <a:ln w="19050">
            <a:solidFill>
              <a:srgbClr val="00B0F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圆角矩形 7">
            <a:extLst>
              <a:ext uri="{FF2B5EF4-FFF2-40B4-BE49-F238E27FC236}">
                <a16:creationId xmlns:a16="http://schemas.microsoft.com/office/drawing/2014/main" id="{E18F5A7E-26FB-65ED-686E-64962FCC81C5}"/>
              </a:ext>
            </a:extLst>
          </p:cNvPr>
          <p:cNvSpPr/>
          <p:nvPr/>
        </p:nvSpPr>
        <p:spPr>
          <a:xfrm>
            <a:off x="871870" y="2169041"/>
            <a:ext cx="1244010" cy="660423"/>
          </a:xfrm>
          <a:prstGeom prst="roundRect">
            <a:avLst/>
          </a:prstGeom>
          <a:solidFill>
            <a:srgbClr val="DCED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Programming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E7A6755B-980E-56D4-7AB3-E9864C30EBC8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1492370" y="2829464"/>
            <a:ext cx="1505" cy="8971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0A7CEFA2-5C94-0B7A-3BBE-E7C30302D491}"/>
              </a:ext>
            </a:extLst>
          </p:cNvPr>
          <p:cNvSpPr/>
          <p:nvPr/>
        </p:nvSpPr>
        <p:spPr>
          <a:xfrm>
            <a:off x="560717" y="3726611"/>
            <a:ext cx="1915064" cy="828136"/>
          </a:xfrm>
          <a:prstGeom prst="rect">
            <a:avLst/>
          </a:prstGeom>
          <a:noFill/>
          <a:ln w="19050">
            <a:solidFill>
              <a:srgbClr val="93637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0C53FA26-D393-46C4-003C-CD09A815F15E}"/>
              </a:ext>
            </a:extLst>
          </p:cNvPr>
          <p:cNvSpPr/>
          <p:nvPr/>
        </p:nvSpPr>
        <p:spPr>
          <a:xfrm>
            <a:off x="661359" y="3899127"/>
            <a:ext cx="761999" cy="483104"/>
          </a:xfrm>
          <a:prstGeom prst="roundRect">
            <a:avLst/>
          </a:prstGeom>
          <a:solidFill>
            <a:srgbClr val="DCED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C / C++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B831066D-9896-6F40-7269-3EA0D82FE32D}"/>
              </a:ext>
            </a:extLst>
          </p:cNvPr>
          <p:cNvSpPr/>
          <p:nvPr/>
        </p:nvSpPr>
        <p:spPr>
          <a:xfrm>
            <a:off x="1594449" y="3899127"/>
            <a:ext cx="761999" cy="483104"/>
          </a:xfrm>
          <a:prstGeom prst="roundRect">
            <a:avLst/>
          </a:prstGeom>
          <a:solidFill>
            <a:srgbClr val="DCED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kumimoji="1" lang="en-US" altLang="zh-CN" sz="1400" dirty="0">
                <a:solidFill>
                  <a:srgbClr val="FF0000"/>
                </a:solidFill>
              </a:rPr>
              <a:t>Data</a:t>
            </a:r>
          </a:p>
          <a:p>
            <a:pPr algn="ctr"/>
            <a:r>
              <a:rPr kumimoji="1" lang="en-US" altLang="zh-CN" sz="1400" dirty="0">
                <a:solidFill>
                  <a:srgbClr val="FF0000"/>
                </a:solidFill>
              </a:rPr>
              <a:t>Structure</a:t>
            </a:r>
            <a:endParaRPr kumimoji="1"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A016309-E3AC-081E-27E8-3EC0DA875C32}"/>
              </a:ext>
            </a:extLst>
          </p:cNvPr>
          <p:cNvSpPr/>
          <p:nvPr/>
        </p:nvSpPr>
        <p:spPr>
          <a:xfrm>
            <a:off x="2871525" y="3726611"/>
            <a:ext cx="3975841" cy="828136"/>
          </a:xfrm>
          <a:prstGeom prst="rect">
            <a:avLst/>
          </a:prstGeom>
          <a:noFill/>
          <a:ln w="19050">
            <a:solidFill>
              <a:srgbClr val="93637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FBC44162-B9A4-42EE-2499-04C732BFEFB8}"/>
              </a:ext>
            </a:extLst>
          </p:cNvPr>
          <p:cNvSpPr/>
          <p:nvPr/>
        </p:nvSpPr>
        <p:spPr>
          <a:xfrm>
            <a:off x="3035963" y="3899127"/>
            <a:ext cx="898083" cy="483104"/>
          </a:xfrm>
          <a:prstGeom prst="roundRect">
            <a:avLst/>
          </a:prstGeom>
          <a:solidFill>
            <a:srgbClr val="DCED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Calculus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4903D2AA-E0C1-0465-3A78-A1152EC737A6}"/>
              </a:ext>
            </a:extLst>
          </p:cNvPr>
          <p:cNvSpPr/>
          <p:nvPr/>
        </p:nvSpPr>
        <p:spPr>
          <a:xfrm>
            <a:off x="4198456" y="3899127"/>
            <a:ext cx="898083" cy="483104"/>
          </a:xfrm>
          <a:prstGeom prst="roundRect">
            <a:avLst/>
          </a:prstGeom>
          <a:solidFill>
            <a:srgbClr val="DCED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Linear</a:t>
            </a:r>
          </a:p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Algebra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1FC42675-F25D-4428-5317-F97D2CC7DCAE}"/>
              </a:ext>
            </a:extLst>
          </p:cNvPr>
          <p:cNvSpPr/>
          <p:nvPr/>
        </p:nvSpPr>
        <p:spPr>
          <a:xfrm>
            <a:off x="5360949" y="3899127"/>
            <a:ext cx="1305665" cy="483104"/>
          </a:xfrm>
          <a:prstGeom prst="roundRect">
            <a:avLst/>
          </a:prstGeom>
          <a:solidFill>
            <a:srgbClr val="DCED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Probability and Statistics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1D66F57-1720-B73B-4EC1-9943754F7BB2}"/>
              </a:ext>
            </a:extLst>
          </p:cNvPr>
          <p:cNvSpPr txBox="1"/>
          <p:nvPr/>
        </p:nvSpPr>
        <p:spPr>
          <a:xfrm>
            <a:off x="5044500" y="4683080"/>
            <a:ext cx="1802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General foundation</a:t>
            </a:r>
            <a:endParaRPr kumimoji="1" lang="zh-CN" altLang="en-US" sz="16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CE8A19F-900F-A30E-2022-9E80029F11EC}"/>
              </a:ext>
            </a:extLst>
          </p:cNvPr>
          <p:cNvSpPr txBox="1"/>
          <p:nvPr/>
        </p:nvSpPr>
        <p:spPr>
          <a:xfrm>
            <a:off x="896050" y="4684125"/>
            <a:ext cx="21587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500" dirty="0">
                <a:solidFill>
                  <a:srgbClr val="FF0000"/>
                </a:solidFill>
              </a:rPr>
              <a:t>Your Starting Course in AI</a:t>
            </a:r>
          </a:p>
          <a:p>
            <a:pPr algn="ctr"/>
            <a:r>
              <a:rPr kumimoji="1" lang="en-US" altLang="zh-CN" sz="1500" dirty="0">
                <a:solidFill>
                  <a:srgbClr val="FF0000"/>
                </a:solidFill>
              </a:rPr>
              <a:t>[in our department]</a:t>
            </a:r>
            <a:endParaRPr kumimoji="1" lang="zh-CN" altLang="en-US" sz="1500" dirty="0">
              <a:solidFill>
                <a:srgbClr val="FF0000"/>
              </a:solidFill>
            </a:endParaRPr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A45CD915-0014-D37E-B9D7-F13B3F869E28}"/>
              </a:ext>
            </a:extLst>
          </p:cNvPr>
          <p:cNvCxnSpPr>
            <a:cxnSpLocks/>
            <a:stCxn id="25" idx="0"/>
            <a:endCxn id="15" idx="2"/>
          </p:cNvCxnSpPr>
          <p:nvPr/>
        </p:nvCxnSpPr>
        <p:spPr>
          <a:xfrm flipV="1">
            <a:off x="1975448" y="4382231"/>
            <a:ext cx="1" cy="30189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ABD0735A-C4F2-E088-B0C4-38709BF944FF}"/>
              </a:ext>
            </a:extLst>
          </p:cNvPr>
          <p:cNvCxnSpPr>
            <a:cxnSpLocks/>
            <a:stCxn id="8" idx="3"/>
            <a:endCxn id="30" idx="1"/>
          </p:cNvCxnSpPr>
          <p:nvPr/>
        </p:nvCxnSpPr>
        <p:spPr>
          <a:xfrm flipV="1">
            <a:off x="2115880" y="2045784"/>
            <a:ext cx="574156" cy="45346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028BAE87-B5C1-24D2-4FAB-D009383819BE}"/>
              </a:ext>
            </a:extLst>
          </p:cNvPr>
          <p:cNvSpPr/>
          <p:nvPr/>
        </p:nvSpPr>
        <p:spPr>
          <a:xfrm>
            <a:off x="2690036" y="1715572"/>
            <a:ext cx="1063257" cy="660423"/>
          </a:xfrm>
          <a:prstGeom prst="roundRect">
            <a:avLst/>
          </a:prstGeom>
          <a:solidFill>
            <a:srgbClr val="DCED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Deep Learning Network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428994CE-8D61-28EC-ED02-24F0E682A123}"/>
              </a:ext>
            </a:extLst>
          </p:cNvPr>
          <p:cNvSpPr/>
          <p:nvPr/>
        </p:nvSpPr>
        <p:spPr>
          <a:xfrm>
            <a:off x="2690036" y="2554623"/>
            <a:ext cx="1063257" cy="660423"/>
          </a:xfrm>
          <a:prstGeom prst="roundRect">
            <a:avLst/>
          </a:prstGeom>
          <a:solidFill>
            <a:srgbClr val="DCED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Machine Learning Concepts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998B2F44-8F00-3CAE-353E-3D5C6CE652E0}"/>
              </a:ext>
            </a:extLst>
          </p:cNvPr>
          <p:cNvCxnSpPr>
            <a:cxnSpLocks/>
            <a:stCxn id="8" idx="3"/>
            <a:endCxn id="31" idx="1"/>
          </p:cNvCxnSpPr>
          <p:nvPr/>
        </p:nvCxnSpPr>
        <p:spPr>
          <a:xfrm>
            <a:off x="2115880" y="2499253"/>
            <a:ext cx="574156" cy="3855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615BAA86-44C1-5C60-415A-0ED8265AB911}"/>
              </a:ext>
            </a:extLst>
          </p:cNvPr>
          <p:cNvSpPr/>
          <p:nvPr/>
        </p:nvSpPr>
        <p:spPr>
          <a:xfrm>
            <a:off x="2475781" y="1498600"/>
            <a:ext cx="1456760" cy="1800971"/>
          </a:xfrm>
          <a:prstGeom prst="rect">
            <a:avLst/>
          </a:prstGeom>
          <a:noFill/>
          <a:ln w="19050">
            <a:solidFill>
              <a:srgbClr val="93637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535FDB4C-3CFC-0818-AA30-1934F6DA0E86}"/>
              </a:ext>
            </a:extLst>
          </p:cNvPr>
          <p:cNvCxnSpPr>
            <a:cxnSpLocks/>
            <a:stCxn id="30" idx="3"/>
            <a:endCxn id="44" idx="1"/>
          </p:cNvCxnSpPr>
          <p:nvPr/>
        </p:nvCxnSpPr>
        <p:spPr>
          <a:xfrm>
            <a:off x="3753293" y="2045784"/>
            <a:ext cx="629525" cy="6559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C1246189-F2ED-6EF6-B674-F8590CB361DB}"/>
              </a:ext>
            </a:extLst>
          </p:cNvPr>
          <p:cNvSpPr/>
          <p:nvPr/>
        </p:nvSpPr>
        <p:spPr>
          <a:xfrm>
            <a:off x="4382818" y="2371473"/>
            <a:ext cx="1252438" cy="660423"/>
          </a:xfrm>
          <a:prstGeom prst="roundRect">
            <a:avLst/>
          </a:prstGeom>
          <a:solidFill>
            <a:srgbClr val="DCED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Algorithm Optimization Principle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F333C5D8-F084-24C2-8B1F-2A404AE0B13C}"/>
              </a:ext>
            </a:extLst>
          </p:cNvPr>
          <p:cNvSpPr/>
          <p:nvPr/>
        </p:nvSpPr>
        <p:spPr>
          <a:xfrm>
            <a:off x="5832389" y="2371473"/>
            <a:ext cx="1014977" cy="660423"/>
          </a:xfrm>
          <a:prstGeom prst="roundRect">
            <a:avLst/>
          </a:prstGeom>
          <a:solidFill>
            <a:srgbClr val="DCED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Machine Learning Principle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0B0562B-829C-5295-22EA-279741EB927B}"/>
              </a:ext>
            </a:extLst>
          </p:cNvPr>
          <p:cNvSpPr txBox="1"/>
          <p:nvPr/>
        </p:nvSpPr>
        <p:spPr>
          <a:xfrm>
            <a:off x="5044500" y="3061171"/>
            <a:ext cx="21593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Professional foundation</a:t>
            </a:r>
            <a:endParaRPr kumimoji="1" lang="zh-CN" altLang="en-US" sz="1600" dirty="0"/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446F4FB8-B77C-9C24-CDE6-1A399C970FAA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 flipV="1">
            <a:off x="3753293" y="2701685"/>
            <a:ext cx="629525" cy="1831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F5411D68-EA8A-84FC-5EEA-A666384EDD4C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5009037" y="1892882"/>
            <a:ext cx="0" cy="4785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2F6EE4E2-9025-DDA7-5CF7-5315BED3B43E}"/>
              </a:ext>
            </a:extLst>
          </p:cNvPr>
          <p:cNvCxnSpPr>
            <a:cxnSpLocks/>
            <a:stCxn id="19" idx="0"/>
            <a:endCxn id="44" idx="2"/>
          </p:cNvCxnSpPr>
          <p:nvPr/>
        </p:nvCxnSpPr>
        <p:spPr>
          <a:xfrm flipV="1">
            <a:off x="4859446" y="3031896"/>
            <a:ext cx="149591" cy="6947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02A14B3B-0026-3A95-416E-1A98626515E7}"/>
              </a:ext>
            </a:extLst>
          </p:cNvPr>
          <p:cNvSpPr/>
          <p:nvPr/>
        </p:nvSpPr>
        <p:spPr>
          <a:xfrm>
            <a:off x="4382818" y="1501476"/>
            <a:ext cx="2464548" cy="391406"/>
          </a:xfrm>
          <a:prstGeom prst="roundRect">
            <a:avLst/>
          </a:prstGeom>
          <a:solidFill>
            <a:srgbClr val="DCED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Foundation Models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66D1B8D0-54B2-CA6D-6F7D-3AD10CDD9D8F}"/>
              </a:ext>
            </a:extLst>
          </p:cNvPr>
          <p:cNvCxnSpPr>
            <a:cxnSpLocks/>
            <a:stCxn id="47" idx="0"/>
          </p:cNvCxnSpPr>
          <p:nvPr/>
        </p:nvCxnSpPr>
        <p:spPr>
          <a:xfrm flipV="1">
            <a:off x="6339878" y="1892882"/>
            <a:ext cx="1773" cy="4785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366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1318</TotalTime>
  <Words>107</Words>
  <Application>Microsoft Office PowerPoint</Application>
  <PresentationFormat>全屏显示(4:3)</PresentationFormat>
  <Paragraphs>41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Microsoft YaHei</vt:lpstr>
      <vt:lpstr>Arial</vt:lpstr>
      <vt:lpstr>Calibri</vt:lpstr>
      <vt:lpstr>Calibri Light</vt:lpstr>
      <vt:lpstr>Office 主题​​</vt:lpstr>
      <vt:lpstr>教学育人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竿头日上</dc:title>
  <dc:creator>Quanming Yao</dc:creator>
  <cp:lastModifiedBy>Quanming Yao</cp:lastModifiedBy>
  <cp:revision>167</cp:revision>
  <cp:lastPrinted>2025-05-30T03:39:44Z</cp:lastPrinted>
  <dcterms:created xsi:type="dcterms:W3CDTF">2023-10-07T05:42:14Z</dcterms:created>
  <dcterms:modified xsi:type="dcterms:W3CDTF">2026-05-08T06:41:53Z</dcterms:modified>
</cp:coreProperties>
</file>